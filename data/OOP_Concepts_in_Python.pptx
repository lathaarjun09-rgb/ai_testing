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 in Python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and the Four Pillars — Explained with Working Code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77240" cy="77724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800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3931920"/>
            <a:ext cx="777240" cy="77724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800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Encapsu-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931920"/>
            <a:ext cx="777240" cy="77724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4800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Inheri-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3931920"/>
            <a:ext cx="777240" cy="77724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800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Polymor-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0" y="3931920"/>
            <a:ext cx="777240" cy="77724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0" y="3931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921240" y="4800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Abstrac-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reference deck with tested code and real output for every concept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394960"/>
            <a:ext cx="2926080" cy="292608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FOUNDATIONS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Classes, Objects &amp; Constructors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= blueprint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482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structure and behavior every object of that type will share.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4871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= instance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980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entity created from the class, holding its own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= constructor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54787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on creation to set up initial attribute values.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9867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refers to the object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2976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method uses self to access that object's own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0718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87452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marks):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self.marks = marks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Student("Ananya", 91)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Student("Rohit", 78)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print(s1.name, 'scored', s1.marks)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print(s2.name, 'scored', s2.marks)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470916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A24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4800600"/>
            <a:ext cx="5120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Ananya scored 91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Rohit scored 78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5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ENCAPSULATION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an Object's Internal State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data with behavior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482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and the methods that use them live together in one class.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4871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_protected / __private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980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Underscore prefixes signal restricted access; double underscore triggers name mangling.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 only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54787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code changes state only through methods like deposit() or withdraw().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9867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states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2976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balance, for example, from being set directly to an illegal value.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0718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8745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owner, balance):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self.owner = owner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self.__balance = balance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deposit(self, amount):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self.__balance += amount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self.__balance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BankAccount('Riya', 1000)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acc.deposit(500)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print('Balance:', acc.get_balance())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553212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A24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5623560"/>
            <a:ext cx="5120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Balance: 1500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acc.__balance -&gt; AttributeError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op_deck/gradi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INHERITANCE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Reusing and Extending Behavior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83664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"Is-a" relationships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20482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 an Animal — child classes acquire the parent's attributes and methods.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33472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24871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reuses setup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27980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constructors call the parent constructor instead of duplicating logic.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54787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can redefine a parent method to customize behavior for its own case.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2688" y="39867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inheritance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42976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inherit from more than one parent — e.g. Duck(Flyer, Swimmer).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1783080"/>
            <a:ext cx="5486400" cy="3886200"/>
          </a:xfrm>
          <a:prstGeom prst="roundRect">
            <a:avLst>
              <a:gd name="adj" fmla="val 1882"/>
            </a:avLst>
          </a:prstGeom>
          <a:solidFill>
            <a:srgbClr val="0718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17920" y="187452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sound):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self.name, self.sound = name, sound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make_sound(self):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f'{self.name} says {self.sound}'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Dog(Animal):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super().__init__(name, 'Woof')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make_sound(self):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f'{self.name} barks: {self.sound}!'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print(Dog('Rex').make_sound())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35040" y="5806440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0A243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5897880"/>
            <a:ext cx="5120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Rex barks: Woof!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123B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POLYMORPHISM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Interface, Many Behaviors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call, different result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482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area() behaves differently for a Rectangle than for a Circle.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4871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generic code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980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loop can process a list of unrelated shapes through one method name.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54787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Dunder methods like __add__ let custom objects use +, -, == naturally.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9867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without rigidity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2976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subclass honors the same interface while owning its own logic.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0718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8745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Rectangle: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w, h): self.w, self.h = w, h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 return self.w * self.h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Circle: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r): self.r = 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area(self): return round(3.1416*self.r**2, 2)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[Rectangle(4,5), Circle(3)]: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print(s.__class__.__name__, 'area:', s.area())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498348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A24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5074920"/>
            <a:ext cx="5120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area: 20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area: 28.27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4206240" cy="4206240"/>
          </a:xfrm>
          <a:prstGeom prst="ellipse">
            <a:avLst/>
          </a:prstGeom>
          <a:solidFill>
            <a:srgbClr val="1E3A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ABSTRACTION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Hiding Complexity, Enforcing a Contract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what's essential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482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implementation stays hidden; only the necessary interface is exposed.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4871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+ @abstractmethod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980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abc module lets a base class declare a method with no implementation.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subclass must comply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54787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concrete subclass is forced to provide its own version of the method.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9867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can't be instantiated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2976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incomplete abstract class cannot be created directly — only its subclasses can.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0718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8745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abc import ABC, abstractmethod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Payment(ABC):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pay(self, amount): pass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CreditCardPayment(Payment):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pay(self, amount):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f'Paid {amount} using Credit Card'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print(CreditCardPayment().pay(250))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Payment()   # cannot instantiate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553212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A24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5623560"/>
            <a:ext cx="5120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 250 using Credit Card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Can't instantiate abstract class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72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645920"/>
            <a:ext cx="3291840" cy="3291840"/>
          </a:xfrm>
          <a:prstGeom prst="ellipse">
            <a:avLst/>
          </a:prstGeom>
          <a:solidFill>
            <a:srgbClr val="0753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SHARED VS. PER-OBJECT STATE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Variables, Instance Variables &amp; Method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variables (self.x)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048256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inside __init__; every object gets its own independent copy.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4871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variables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798064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the class body; shared by every instance unless overridden locally.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323697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@classmethod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547872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cls, not self — used to read or modify class-level state.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9867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@staticmethod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29768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neither self nor cls — a plain utility function grouped in the class.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0718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8745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 = 'TechCorp'   # class variable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# instance variable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Employee.count += 1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@classmethod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get_company(cls): return cls.company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Employee('Aman'); Employee('Priya')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print(Employee.get_company())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print('Total employees:', Employee.count)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5532120"/>
            <a:ext cx="5486400" cy="786384"/>
          </a:xfrm>
          <a:prstGeom prst="roundRect">
            <a:avLst>
              <a:gd name="adj" fmla="val 9302"/>
            </a:avLst>
          </a:prstGeom>
          <a:solidFill>
            <a:srgbClr val="0A243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5623560"/>
            <a:ext cx="5120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employees: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114800" cy="4114800"/>
          </a:xfrm>
          <a:prstGeom prst="ellipse">
            <a:avLst/>
          </a:prstGeom>
          <a:solidFill>
            <a:srgbClr val="123B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Pillars,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F4A34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148840"/>
            <a:ext cx="731520" cy="731520"/>
          </a:xfrm>
          <a:prstGeom prst="ellipse">
            <a:avLst/>
          </a:prstGeom>
          <a:solidFill>
            <a:srgbClr val="0A2E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data via private attributes and controlled methods.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F4A34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2148840"/>
            <a:ext cx="731520" cy="731520"/>
          </a:xfrm>
          <a:prstGeom prst="ellipse">
            <a:avLst/>
          </a:prstGeom>
          <a:solidFill>
            <a:srgbClr val="0A2E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and extends behavior across parent and child classes.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8745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F4A34"/>
          </a:solidFill>
          <a:ln/>
        </p:spPr>
      </p:sp>
      <p:sp>
        <p:nvSpPr>
          <p:cNvPr id="16" name="Shape 14"/>
          <p:cNvSpPr/>
          <p:nvPr/>
        </p:nvSpPr>
        <p:spPr>
          <a:xfrm>
            <a:off x="6720840" y="2148840"/>
            <a:ext cx="731520" cy="731520"/>
          </a:xfrm>
          <a:prstGeom prst="ellipse">
            <a:avLst/>
          </a:prstGeom>
          <a:solidFill>
            <a:srgbClr val="0A2E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behavior per object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58200" y="1874520"/>
            <a:ext cx="2468880" cy="2834640"/>
          </a:xfrm>
          <a:prstGeom prst="roundRect">
            <a:avLst>
              <a:gd name="adj" fmla="val 4444"/>
            </a:avLst>
          </a:prstGeom>
          <a:solidFill>
            <a:srgbClr val="0F4A34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2148840"/>
            <a:ext cx="731520" cy="731520"/>
          </a:xfrm>
          <a:prstGeom prst="ellipse">
            <a:avLst/>
          </a:prstGeom>
          <a:solidFill>
            <a:srgbClr val="0A2E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E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implementation; enforces a consistent interface.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F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 give structure; constructors initialize state; class/instance variables and class/static methods control how that state is shared — together, they let Python model real-world systems with clean, reusable, predictable code.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class. Protect the data. Reuse the behavior. Trust the interface.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2026-08-27T03:04:57Z</dcterms:created>
  <dcterms:modified xsi:type="dcterms:W3CDTF">2026-08-27T03:04:57Z</dcterms:modified>
</cp:coreProperties>
</file>